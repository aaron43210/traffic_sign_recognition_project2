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731520" cy="54864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4572000"/>
            <a:ext cx="731520" cy="54864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4572000"/>
            <a:ext cx="731520" cy="54864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0" y="4572000"/>
            <a:ext cx="731520" cy="54864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4572000"/>
            <a:ext cx="731520" cy="54864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4572000"/>
            <a:ext cx="731520" cy="54864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548640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5156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554480"/>
            <a:ext cx="320040" cy="3200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457200"/>
            <a:ext cx="347472" cy="1737360"/>
          </a:xfrm>
          <a:prstGeom prst="rect">
            <a:avLst/>
          </a:prstGeom>
          <a:solidFill>
            <a:srgbClr val="1C2E42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548640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05156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554480"/>
            <a:ext cx="320040" cy="3200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6576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5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PROJECT #19 · GTSRB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10058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 Recognition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731520" y="19202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Autonomous Vehicles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731520" y="28346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Spatial Transformer Networks · Explainable AI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3337560"/>
            <a:ext cx="3657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R  ·  Ardra Selin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3977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Course  |  Academic Year 2025-26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1097280"/>
            <a:ext cx="2194560" cy="868680"/>
          </a:xfrm>
          <a:prstGeom prst="rect">
            <a:avLst/>
          </a:prstGeom>
          <a:solidFill>
            <a:srgbClr val="11224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1143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583680" y="1554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Classes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83680" y="2194560"/>
            <a:ext cx="2194560" cy="868680"/>
          </a:xfrm>
          <a:prstGeom prst="rect">
            <a:avLst/>
          </a:prstGeom>
          <a:solidFill>
            <a:srgbClr val="11224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51,839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58368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0" y="3291840"/>
            <a:ext cx="2194560" cy="868680"/>
          </a:xfrm>
          <a:prstGeom prst="rect">
            <a:avLst/>
          </a:prstGeom>
          <a:solidFill>
            <a:srgbClr val="11224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99%+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58368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02920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64008" cy="3474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 depend on computer vision to navigate safely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Misinterpreting a Stop sign as a Yield sign can cause catastrophic accidents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conditions: varying lighting, occlusion, motion blur, weather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classification is not enough — safety analysis is essential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26262 ASIL standards require explainable, reliable decisions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0" y="1097280"/>
            <a:ext cx="329184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0" y="1600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robust deep learning system to classify 43 categories of traffic signs under real-world conditions with safety-critical analysis and model explainability.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77840" y="2834640"/>
            <a:ext cx="3291840" cy="1737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Requirements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33375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across all 43 classes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to lighting/occlusion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 failure analysis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(Grad-CAM, t-SNE)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484632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Traffic Sign Recognition · Project #19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GTSRB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0" y="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Traffic Sign Recognition Benchmark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0116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~39,209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051560"/>
            <a:ext cx="201168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097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~12,630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50592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Images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26864" y="1051560"/>
            <a:ext cx="2011680" cy="10058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097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26864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Classes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03136" y="1051560"/>
            <a:ext cx="2011680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03136" y="1097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48×48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03136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Size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240280"/>
            <a:ext cx="420624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240280"/>
            <a:ext cx="54864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3134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Images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262432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color, original varying resolutions from 15×15 to 250×250 pixels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240280"/>
            <a:ext cx="420624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240280"/>
            <a:ext cx="54864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3134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262432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imbalanced: 210 to 2,250 samples per class — requires special handling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474720"/>
            <a:ext cx="420624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474720"/>
            <a:ext cx="54864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5478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Sampling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" y="38587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Random Sampling to balance class representation during training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474720"/>
            <a:ext cx="420624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474720"/>
            <a:ext cx="54864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5478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Loss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92040" y="38587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Cross-Entropy Loss penalizes errors on underrepresented classes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617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Preprocessing: CLAHE (Contrast Limited Adaptive Histogram Equalization) applied to normalize varying lighting conditions across all images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10-Stage Data Science Life Cycle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16002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124712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162763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20756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43 sign types for autonomous driving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47672" y="1051560"/>
            <a:ext cx="16002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23744" y="1124712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23744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93392" y="162763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93392" y="20756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GTSRB fetch via PyTorch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12464" y="1051560"/>
            <a:ext cx="16002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88536" y="1124712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88536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58184" y="162763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58184" y="20756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normalization for lighting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77256" y="1051560"/>
            <a:ext cx="16002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53328" y="1124712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22976" y="162763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22976" y="20756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&amp; brightness analysis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242048" y="1051560"/>
            <a:ext cx="16002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18120" y="1124712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87768" y="162763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87768" y="20756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Rotation, perspective, color jitter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82880" y="2880360"/>
            <a:ext cx="16002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" y="295351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28600" y="345643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28600" y="39044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Baseline, Enhanced, &amp; STN-CNN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947672" y="2880360"/>
            <a:ext cx="16002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23744" y="295351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23744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993392" y="345643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993392" y="39044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F1, Precision, Recall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712464" y="2880360"/>
            <a:ext cx="16002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88536" y="295351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88536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758184" y="345643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758184" y="39044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&amp; t-SNE visualizations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477256" y="2880360"/>
            <a:ext cx="16002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53328" y="295351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53328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522976" y="345643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522976" y="39044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interactive application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242048" y="2880360"/>
            <a:ext cx="16002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18120" y="295351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1812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287768" y="345643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287768" y="39044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codebase, profiles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74320" y="484632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Traffic Sign Recognition · Project #19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88920" cy="3703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704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CNN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~500K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901952"/>
            <a:ext cx="2514600" cy="1828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93392"/>
            <a:ext cx="2514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Conv layers with BatchNorm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MaxPooling + Dropout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FC layers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activations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cross-entropy loss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27832" y="1051560"/>
            <a:ext cx="2788920" cy="3703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11704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CNN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64992" y="15727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~1.2M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64992" y="1901952"/>
            <a:ext cx="2514600" cy="182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993392"/>
            <a:ext cx="2514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conv architecture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Residual-style skip blocks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augmentation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loss function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regularization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81344" y="1051560"/>
            <a:ext cx="2788920" cy="3703320"/>
          </a:xfrm>
          <a:prstGeom prst="rect">
            <a:avLst/>
          </a:prstGeom>
          <a:solidFill>
            <a:srgbClr val="1E3A5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8504" y="11704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STN-CNN 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18504" y="15727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~1.5M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18504" y="1901952"/>
            <a:ext cx="2514600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18504" y="1993392"/>
            <a:ext cx="2514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Transformer Network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geometric corrections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Auto-aligns &amp; normalizes input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 + Dropout layers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performance model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STN: Spatial Transformer Networks automatically learn to spatially align inputs — correcting rotation, scaling, and translation before classification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18288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463040"/>
                <a:gridCol w="173736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Top-5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CNN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~96–97%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Enhanced CNN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~98–99%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~1.2M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STN-CNN 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~99%+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~1.5M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063240"/>
            <a:ext cx="201168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30906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99%+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274320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STN-CNN Accuracy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450592" y="3063240"/>
            <a:ext cx="20116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50592" y="30906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2450592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Score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26864" y="3063240"/>
            <a:ext cx="2011680" cy="10058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26864" y="30906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4626864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Accuracy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803136" y="3063240"/>
            <a:ext cx="201168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03136" y="30906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803136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Classified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4320" y="4206240"/>
            <a:ext cx="859536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4320" y="4206240"/>
            <a:ext cx="54864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25196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STN-CNN outperforms standard CNNs by learning to spatially normalize inputs, achieving best-in-class performance across all metrics while adding minimal parameter overhead (~300K) over the Enhanced CNN baseline.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Analysis &amp; Critical Failures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0" y="182880"/>
            <a:ext cx="201168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82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26262 ASIL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Sign Confusions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502920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508760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72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Sign  ↔  Yield Sign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66160" y="1600200"/>
            <a:ext cx="82296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ASIL 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9476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dangerous — could cause intersection collisions at high speed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532888"/>
            <a:ext cx="502920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532888"/>
            <a:ext cx="54864" cy="8686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968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Limit 30  ↔  Speed Limit 50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66160" y="2624328"/>
            <a:ext cx="822960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26243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ASIL 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9718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confusion leads to excessive speed in restricted zones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557016"/>
            <a:ext cx="502920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557016"/>
            <a:ext cx="54864" cy="8686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210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Passing  ↔  Passing Allowed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566160" y="3648456"/>
            <a:ext cx="822960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36484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ASIL 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9959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Overtaking at wrong locations causes head-on collision risk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0" y="1005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Recommendations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0" y="1463040"/>
            <a:ext cx="338328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23560" y="15727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Fusion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23560" y="1847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camera with LiDAR/radar for redundancy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23560" y="22311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Threshold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23560" y="25054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triggered below threshold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623560" y="28895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Consistency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23560" y="31638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consistent prediction over 3+ frames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623560" y="35478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ASIL Monitoring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23560" y="3822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safety level tracking per sign class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23560" y="4206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Testing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23560" y="4480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evaluation against perturbed inputs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Explainability &amp; Visualization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Grad-CAM: Gradient-weighted Class Activation Mapping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11480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17320"/>
            <a:ext cx="54864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Grad-CAM Works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 through the model to get predictions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gradients of class score w.r.t. final conv layer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gradients to get importance weights per channel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weighted combination → attention heatmap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on original image to show focus regions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16052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417320"/>
            <a:ext cx="54864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t-SNE: Feature Embeddings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8745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high-dimensional CNN features to 2D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how well the model separates sign classes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clusters = confident discrimination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clusters = confusion-prone classes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model's internal representation quality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3474720"/>
            <a:ext cx="859536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661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Explainability Matters for Autonomous Vehicles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0050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Validation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2793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model focuses on actual sign features, not background artifacts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40050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06040" y="42793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26262 requires traceable, auditable AI decision logic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40050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Diagnosis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42793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why the model confuses similar signs under adverse conditions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03720" y="40050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Building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03720" y="42793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and regulators need transparent, interpretable model behavior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Deployment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27432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881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3560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JPG/PNG traffic sign images for real-time classification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74320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051560"/>
            <a:ext cx="274320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881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Predictions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43560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bar chart showing top-5 predicted classes with confidence 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74320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051560"/>
            <a:ext cx="274320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0881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Overlay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43560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attention heatmap showing model focus regions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331720"/>
            <a:ext cx="274320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331720"/>
            <a:ext cx="2743200" cy="3200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3682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Gauge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271576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confidence indicator with safety threshold alerts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331720"/>
            <a:ext cx="274320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2331720"/>
            <a:ext cx="274320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3682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Simulation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271576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&amp; contrast sliders to test model robustness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331720"/>
            <a:ext cx="274320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2331720"/>
            <a:ext cx="274320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3682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271576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Baseline CNN, Enhanced CNN, and STN-CNN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657600"/>
            <a:ext cx="859536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7490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411480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Matplotlib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torchvision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GTSRB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133088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1330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664208" y="4133088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64208" y="41330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71216" y="4133088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71216" y="41330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078224" y="4133088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78224" y="41330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285232" y="4133088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85232" y="41330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Matplotlib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92240" y="4133088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41330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torchvision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699248" y="4133088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99248" y="41330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GTSRB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61020"/>
          </a:solidFill>
          <a:ln w="12700">
            <a:solidFill>
              <a:srgbClr val="06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200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20624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1704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STN-CNN Achieves ~99%+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481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 accuracy, Macro F1, and Top-5 accuracy across 43 sign classes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420624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1430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40680" y="11704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40680" y="1481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and t-SNE provide interpretable, auditable model behavior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057400"/>
            <a:ext cx="420624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031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🛡️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0120" y="21305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Safety-First Design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4414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26262 ASIL analysis with confidence thresholding and temporal consistency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057400"/>
            <a:ext cx="420624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1031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🚀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40680" y="21305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40680" y="24414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app with real-time inference and lighting simulation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017520"/>
            <a:ext cx="420624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632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📊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60120" y="30906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Pipeline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34015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10-stage Data Science Life Cycle with CLAHE preprocessing and weighted sampling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017520"/>
            <a:ext cx="420624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0632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🤝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40680" y="30906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34015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R &amp; Ardra Selin — full pipeline from data collection to deployment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PyTorch &amp; Streamlit  |  GTSRB Dataset  |  Predictive Analytics 2025-26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Traffic Sign Recognition for Autonomous Vehicles</dc:title>
  <dc:subject>PptxGenJS Presentation</dc:subject>
  <dc:creator>PptxGenJS</dc:creator>
  <cp:lastModifiedBy>PptxGenJS</cp:lastModifiedBy>
  <cp:revision>1</cp:revision>
  <dcterms:created xsi:type="dcterms:W3CDTF">2026-05-05T08:13:07Z</dcterms:created>
  <dcterms:modified xsi:type="dcterms:W3CDTF">2026-05-05T08:13:07Z</dcterms:modified>
</cp:coreProperties>
</file>